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D6B"/>
                </a:solidFill>
              </a:defRPr>
            </a:pPr>
            <a:r>
              <a:t>SMART INDIA HACKATHON 2026</a:t>
            </a:r>
          </a:p>
          <a:p>
            <a:pPr>
              <a:spcBef>
                <a:spcPts val="400"/>
              </a:spcBef>
              <a:defRPr sz="1200" b="1">
                <a:solidFill>
                  <a:srgbClr val="D97706"/>
                </a:solidFill>
              </a:defRPr>
            </a:pPr>
            <a:r>
              <a:t>IDEA SUBMISSION — OFFICIAL EVALUATION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548640"/>
            <a:ext cx="192024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F2D6B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64922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b="1" sz="1050">
                <a:solidFill>
                  <a:srgbClr val="0F2D6B"/>
                </a:solidFill>
              </a:defRPr>
            </a:pPr>
            <a:r>
              <a:t>Problem Statement ID: </a:t>
            </a:r>
            <a:r>
              <a:rPr b="1" sz="1050">
                <a:solidFill>
                  <a:srgbClr val="DC2626"/>
                </a:solidFill>
              </a:rPr>
              <a:t>SIH26027</a:t>
            </a:r>
          </a:p>
          <a:p>
            <a:pPr>
              <a:spcBef>
                <a:spcPts val="800"/>
              </a:spcBef>
              <a:defRPr b="1" sz="1050">
                <a:solidFill>
                  <a:srgbClr val="0F2D6B"/>
                </a:solidFill>
              </a:defRPr>
            </a:pPr>
            <a:r>
              <a:t>Problem Statement Title: </a:t>
            </a:r>
            <a:r>
              <a:rPr b="0" sz="1050">
                <a:solidFill>
                  <a:srgbClr val="0F2D6B"/>
                </a:solidFill>
              </a:rPr>
              <a:t>AI-Powered Corridor Traffic Optimization &amp; Maintenance Scheduling System</a:t>
            </a:r>
          </a:p>
          <a:p>
            <a:pPr>
              <a:spcBef>
                <a:spcPts val="800"/>
              </a:spcBef>
              <a:defRPr b="1" sz="1050">
                <a:solidFill>
                  <a:srgbClr val="0F2D6B"/>
                </a:solidFill>
              </a:defRPr>
            </a:pPr>
            <a:r>
              <a:t>Theme: </a:t>
            </a:r>
            <a:r>
              <a:rPr b="0" sz="1050">
                <a:solidFill>
                  <a:srgbClr val="0F172A"/>
                </a:solidFill>
              </a:rPr>
              <a:t>Smart Automation / Transportation &amp; Logistics</a:t>
            </a:r>
          </a:p>
          <a:p>
            <a:pPr>
              <a:spcBef>
                <a:spcPts val="800"/>
              </a:spcBef>
              <a:defRPr b="1" sz="1050">
                <a:solidFill>
                  <a:srgbClr val="0F2D6B"/>
                </a:solidFill>
              </a:defRPr>
            </a:pPr>
            <a:r>
              <a:t>PS Category: </a:t>
            </a:r>
            <a:r>
              <a:rPr b="0" sz="1050">
                <a:solidFill>
                  <a:srgbClr val="0F172A"/>
                </a:solidFill>
              </a:rPr>
              <a:t>Software</a:t>
            </a:r>
          </a:p>
          <a:p>
            <a:pPr>
              <a:spcBef>
                <a:spcPts val="800"/>
              </a:spcBef>
              <a:defRPr b="1" sz="1050">
                <a:solidFill>
                  <a:srgbClr val="0F2D6B"/>
                </a:solidFill>
              </a:defRPr>
            </a:pPr>
            <a:r>
              <a:t>Ministry / Organization: </a:t>
            </a:r>
            <a:r>
              <a:rPr b="0" sz="1050">
                <a:solidFill>
                  <a:srgbClr val="0F172A"/>
                </a:solidFill>
              </a:rPr>
              <a:t>Ministry of Railways (Indian Railways / South Western Railway)</a:t>
            </a:r>
          </a:p>
          <a:p>
            <a:pPr>
              <a:spcBef>
                <a:spcPts val="800"/>
              </a:spcBef>
              <a:defRPr b="1" sz="1050">
                <a:solidFill>
                  <a:srgbClr val="0F2D6B"/>
                </a:solidFill>
              </a:defRPr>
            </a:pPr>
            <a:r>
              <a:t>Team Name: </a:t>
            </a:r>
            <a:r>
              <a:rPr b="0" sz="1050">
                <a:solidFill>
                  <a:srgbClr val="0F2D6B"/>
                </a:solidFill>
              </a:rPr>
              <a:t>[Enter Registered Team Name]</a:t>
            </a:r>
          </a:p>
          <a:p>
            <a:pPr>
              <a:spcBef>
                <a:spcPts val="800"/>
              </a:spcBef>
              <a:defRPr b="1" sz="1050">
                <a:solidFill>
                  <a:srgbClr val="0F2D6B"/>
                </a:solidFill>
              </a:defRPr>
            </a:pPr>
            <a:r>
              <a:t>Team ID: </a:t>
            </a:r>
            <a:r>
              <a:rPr b="0" sz="1050">
                <a:solidFill>
                  <a:srgbClr val="0F2D6B"/>
                </a:solidFill>
              </a:rPr>
              <a:t>[Enter Registered Team ID]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737360"/>
            <a:ext cx="3749039" cy="46634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2000" b="1">
                <a:solidFill>
                  <a:srgbClr val="0F2D6B"/>
                </a:solidFill>
              </a:defRPr>
            </a:pPr>
            <a:r>
              <a:t>RAILBLOCK AI</a:t>
            </a:r>
          </a:p>
          <a:p>
            <a:pPr algn="ctr">
              <a:spcBef>
                <a:spcPts val="200"/>
              </a:spcBef>
              <a:defRPr sz="950" b="1">
                <a:solidFill>
                  <a:srgbClr val="0284C7"/>
                </a:solidFill>
              </a:defRPr>
            </a:pPr>
            <a:r>
              <a:t>Multi-Agent Corridor Operating System (IR-COAS)</a:t>
            </a:r>
          </a:p>
          <a:p>
            <a:pPr>
              <a:spcBef>
                <a:spcPts val="700"/>
              </a:spcBef>
              <a:defRPr sz="900">
                <a:solidFill>
                  <a:srgbClr val="0F172A"/>
                </a:solidFill>
              </a:defRPr>
            </a:pPr>
            <a:r>
              <a:t>• Ingests 4 Real Systems: TMS, SMMS, TDMS, COA.</a:t>
            </a:r>
          </a:p>
          <a:p>
            <a:pPr>
              <a:spcBef>
                <a:spcPts val="700"/>
              </a:spcBef>
              <a:defRPr sz="900">
                <a:solidFill>
                  <a:srgbClr val="0F172A"/>
                </a:solidFill>
              </a:defRPr>
            </a:pPr>
            <a:r>
              <a:t>• 6 Cognitive Agents: Priority, Fusion, CP-SAT, Guardian, Interlocking, Dynamic Recovery.</a:t>
            </a:r>
          </a:p>
          <a:p>
            <a:pPr>
              <a:spcBef>
                <a:spcPts val="700"/>
              </a:spcBef>
              <a:defRPr sz="900">
                <a:solidFill>
                  <a:srgbClr val="0F172A"/>
                </a:solidFill>
              </a:defRPr>
            </a:pPr>
            <a:r>
              <a:t>• 3 Dedicated Portals: Controller Cockpit, Field JE Terminal, Station Master Desk.</a:t>
            </a:r>
          </a:p>
          <a:p>
            <a:pPr>
              <a:spcBef>
                <a:spcPts val="700"/>
              </a:spcBef>
              <a:defRPr sz="900">
                <a:solidFill>
                  <a:srgbClr val="0F172A"/>
                </a:solidFill>
              </a:defRPr>
            </a:pPr>
            <a:r>
              <a:t>• Digital Work Permit: Replaces paper Form T/351 with HMAC SHA-256 QR tokens.</a:t>
            </a:r>
          </a:p>
          <a:p>
            <a:pPr>
              <a:spcBef>
                <a:spcPts val="700"/>
              </a:spcBef>
              <a:defRPr sz="900">
                <a:solidFill>
                  <a:srgbClr val="0F172A"/>
                </a:solidFill>
              </a:defRPr>
            </a:pPr>
            <a:r>
              <a:t>• Sub-250ms SLA: Instant re-optimization during rail fractures and storms (208.4ms).</a:t>
            </a:r>
          </a:p>
          <a:p>
            <a:pPr>
              <a:spcBef>
                <a:spcPts val="700"/>
              </a:spcBef>
              <a:defRPr sz="900">
                <a:solidFill>
                  <a:srgbClr val="0F172A"/>
                </a:solidFill>
              </a:defRPr>
            </a:pPr>
            <a:r>
              <a:t>• Real Corridor Validated: SWR Bengaluru Division (SBC-MYS 138 KM Corridor).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D6B"/>
                </a:solidFill>
              </a:defRPr>
            </a:pPr>
            <a:r>
              <a:t>PROPOSED SOLUTION</a:t>
            </a:r>
          </a:p>
          <a:p>
            <a:pPr>
              <a:defRPr sz="1000" b="0">
                <a:solidFill>
                  <a:srgbClr val="475569"/>
                </a:solidFill>
              </a:defRPr>
            </a:pPr>
            <a:r>
              <a:t>RailBlock AI: Autonomous Multi-Agent Corridor Operating System for Indian Railways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7315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2D6B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950">
                <a:solidFill>
                  <a:srgbClr val="0F2D6B"/>
                </a:solidFill>
              </a:defRPr>
            </a:pPr>
            <a:r>
              <a:t>Core Solution Objective: Eliminates manual phone coordination and physical paper work permits (Form T/351) by integrating TMS, SMMS, TDMS, and COA feeds into a 6-agent constraint solver that automates corridor scheduling, shadow bundling, and signal clamping.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2D6B"/>
                </a:solidFill>
              </a:defRPr>
            </a:pPr>
            <a:r>
              <a:t>1. Detailed Solution Structure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Three Standalone Decoupled Portals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Section Controller Cockpit: </a:t>
            </a:r>
            <a:r>
              <a:rPr b="0" sz="850">
                <a:solidFill>
                  <a:srgbClr val="0F172A"/>
                </a:solidFill>
              </a:rPr>
              <a:t>Interactive multi-track Gantt radar, Pareto profile selector (Balanced, Safety-Max, Throughput-Max), and 1-click sanction desk.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Field Junior Engineer Terminal: </a:t>
            </a:r>
            <a:r>
              <a:rPr b="0" sz="850">
                <a:solidFill>
                  <a:srgbClr val="0F172A"/>
                </a:solidFill>
              </a:rPr>
              <a:t>5-step requisition wizard from defect photo capture to scannable QR permit and 130 km/h line speed surrender certification.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Station Master Operating Desk: </a:t>
            </a:r>
            <a:r>
              <a:rPr b="0" sz="850">
                <a:solidFill>
                  <a:srgbClr val="0F172A"/>
                </a:solidFill>
              </a:rPr>
              <a:t>Live yard dashboard, WebRTC 60 FPS camera QR scanner, signal point clamping at Danger, and local hazard deferral.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6-Agent Cognitive Core: </a:t>
            </a:r>
            <a:r>
              <a:rPr b="0" sz="850">
                <a:solidFill>
                  <a:srgbClr val="0F172A"/>
                </a:solidFill>
              </a:rPr>
              <a:t>Autonomous specialized agents orchestrating ingestion, priority, shadow fusion, CP-SAT solving, interlocking, and recovery.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Digital Work Permit: </a:t>
            </a:r>
            <a:r>
              <a:rPr b="0" sz="850">
                <a:solidFill>
                  <a:srgbClr val="0F172A"/>
                </a:solidFill>
              </a:rPr>
              <a:t>Replaces manual Form T/351 paper logbooks with tamper-proof HMAC SHA-256 optical QR tokens.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Visual Track Surrender Proof: </a:t>
            </a:r>
            <a:r>
              <a:rPr b="0" sz="850">
                <a:solidFill>
                  <a:srgbClr val="0F172A"/>
                </a:solidFill>
              </a:rPr>
              <a:t>Mandatory 'Before Defect Photo' gates the work timer, and 'After Repaired Photo' is required before 130 km/h line speed is restored.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2. How It Addresses Bottlenecks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Solving Real Ground Operating Pain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Kills Paper Permit Overhead: </a:t>
            </a:r>
            <a:r>
              <a:rPr b="0" sz="850">
                <a:solidFill>
                  <a:srgbClr val="0F172A"/>
                </a:solidFill>
              </a:rPr>
              <a:t>Replaces slow 45-minute manual memo transit with instant digital QR verification between JE and Station Master.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Shields VIP Passenger Paths: </a:t>
            </a:r>
            <a:r>
              <a:rPr b="0" sz="850">
                <a:solidFill>
                  <a:srgbClr val="0F172A"/>
                </a:solidFill>
              </a:rPr>
              <a:t>Sentinel Safety Guardian enforces strict SIL-4 headway buffers (&gt;=30m) around Vande Bharat &amp; Shatabdi expresses.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Joint Shadow Bundling: </a:t>
            </a:r>
            <a:r>
              <a:rPr b="0" sz="850">
                <a:solidFill>
                  <a:srgbClr val="0F172A"/>
                </a:solidFill>
              </a:rPr>
              <a:t>Integrated Fusion Agent merges track (P-Way), signal (S&amp;T), and electrical (TRD) repairs within a 35 km radius.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Sub-250ms Dynamic Recovery: </a:t>
            </a:r>
            <a:r>
              <a:rPr b="0" sz="850">
                <a:solidFill>
                  <a:srgbClr val="0F172A"/>
                </a:solidFill>
              </a:rPr>
              <a:t>Automatically reschedules affected blocks in 208.4ms when rail fractures or local thunderstorms occur.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Eliminates Verbal Errors: </a:t>
            </a:r>
            <a:r>
              <a:rPr b="0" sz="850">
                <a:solidFill>
                  <a:srgbClr val="0F172A"/>
                </a:solidFill>
              </a:rPr>
              <a:t>Replaces informal telephone train dispatching with verified cryptographic authorization.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14884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3. Innovation &amp; Uniqueness</a:t>
            </a:r>
          </a:p>
          <a:p>
            <a:pPr>
              <a:spcBef>
                <a:spcPts val="100"/>
              </a:spcBef>
              <a:defRPr sz="850">
                <a:solidFill>
                  <a:srgbClr val="475569"/>
                </a:solidFill>
              </a:defRPr>
            </a:pPr>
            <a:r>
              <a:t>Technical &amp; Algorithmic Differentiators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Deterministic CP-SAT Solver: </a:t>
            </a:r>
            <a:r>
              <a:rPr b="0" sz="850">
                <a:solidFill>
                  <a:srgbClr val="0F172A"/>
                </a:solidFill>
              </a:rPr>
              <a:t>Google OR-Tools discrete 15-min interval constraint solver guarantees 100% mathematical feasibility without human guessing.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TreeSHAP Local Explainability: </a:t>
            </a:r>
            <a:r>
              <a:rPr b="0" sz="850">
                <a:solidFill>
                  <a:srgbClr val="0F172A"/>
                </a:solidFill>
              </a:rPr>
              <a:t>Coupled with XGBoost (R2=0.966) to output exact feature attribution force plots explaining every priority decision.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Hardware-Grounded Interlocking: </a:t>
            </a:r>
            <a:r>
              <a:rPr b="0" sz="850">
                <a:solidFill>
                  <a:srgbClr val="0F172A"/>
                </a:solidFill>
              </a:rPr>
              <a:t>Real-world safety handoff: Signals are electronically clamped at Stop before physical track possession is granted.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Multi-Tenant Operator Isolation: </a:t>
            </a:r>
            <a:r>
              <a:rPr b="0" sz="850">
                <a:solidFill>
                  <a:srgbClr val="0F172A"/>
                </a:solidFill>
              </a:rPr>
              <a:t>4 independent operator profiles (JE-01 to JE-04) with isolated localStorage state and zero data leakage.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Zero New Hardware Capex: </a:t>
            </a:r>
            <a:r>
              <a:rPr b="0" sz="850">
                <a:solidFill>
                  <a:srgbClr val="0F172A"/>
                </a:solidFill>
              </a:rPr>
              <a:t>Runs on standard mobile browsers, station desktop PCs, and WebRTC cameras with no proprietary sensors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D6B"/>
                </a:solidFill>
              </a:defRPr>
            </a:pPr>
            <a:r>
              <a:t>TECHNICAL APPROACH</a:t>
            </a:r>
          </a:p>
          <a:p>
            <a:pPr>
              <a:defRPr sz="1000" b="0">
                <a:solidFill>
                  <a:srgbClr val="475569"/>
                </a:solidFill>
              </a:defRPr>
            </a:pPr>
            <a:r>
              <a:t>Multi-Agent System Architecture, Pipeline Methodology &amp; Categorized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7315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2D6B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48640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0F2D6B"/>
                </a:solidFill>
              </a:defRPr>
            </a:pPr>
            <a:r>
              <a:t>5-Step Multi-Agent Execution Pipeline</a:t>
            </a:r>
          </a:p>
          <a:p>
            <a:pPr>
              <a:spcBef>
                <a:spcPts val="800"/>
              </a:spcBef>
              <a:defRPr b="1" sz="950">
                <a:solidFill>
                  <a:srgbClr val="0284C7"/>
                </a:solidFill>
              </a:defRPr>
            </a:pPr>
            <a:r>
              <a:t>Step I: Data Ingestion &amp; Normalization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Ingestion Agent parses legacy defect logs from TMS, SMMS, TDMS, and COA live train charts into unified Pydantic schemas.</a:t>
            </a:r>
          </a:p>
          <a:p>
            <a:pPr>
              <a:spcBef>
                <a:spcPts val="800"/>
              </a:spcBef>
              <a:defRPr b="1" sz="950">
                <a:solidFill>
                  <a:srgbClr val="0284C7"/>
                </a:solidFill>
              </a:defRPr>
            </a:pPr>
            <a:r>
              <a:t>Step II: Defect Urgency Scoring (XGBoost)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Priority Agent computes dynamic urgency scores (0-100) using XGBoost regression (R2=0.966) with TreeSHAP local feature explainability.</a:t>
            </a:r>
          </a:p>
          <a:p>
            <a:pPr>
              <a:spcBef>
                <a:spcPts val="800"/>
              </a:spcBef>
              <a:defRPr b="1" sz="950">
                <a:solidFill>
                  <a:srgbClr val="0284C7"/>
                </a:solidFill>
              </a:defRPr>
            </a:pPr>
            <a:r>
              <a:t>Step III: Work Packaging &amp; Shadow Fusion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Fusion Agent bundles multi-department maintenance demands within a 35 km radius using NetworkX bipartite graph matching.</a:t>
            </a:r>
          </a:p>
          <a:p>
            <a:pPr>
              <a:spcBef>
                <a:spcPts val="800"/>
              </a:spcBef>
              <a:defRPr b="1" sz="950">
                <a:solidFill>
                  <a:srgbClr val="D97706"/>
                </a:solidFill>
              </a:defRPr>
            </a:pPr>
            <a:r>
              <a:t>Step IV: Mathematical Optimization (CP-SAT)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Optimizer Agent executes Google OR-Tools discrete interval scheduling over 15-min slots, synthesizing Pareto trade-off frontiers.</a:t>
            </a:r>
          </a:p>
          <a:p>
            <a:pPr>
              <a:spcBef>
                <a:spcPts val="800"/>
              </a:spcBef>
              <a:defRPr b="1" sz="950">
                <a:solidFill>
                  <a:srgbClr val="059669"/>
                </a:solidFill>
              </a:defRPr>
            </a:pPr>
            <a:r>
              <a:t>Step V: Safety Audit &amp; Interlocking Verification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Sentinel Guardian enforces SIL-4 headway buffers; Interlocking Agent verifies HMAC QR tokens &amp; clamps station signals at Danger.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80160"/>
            <a:ext cx="4937760" cy="5212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00" b="1">
                <a:solidFill>
                  <a:srgbClr val="0F2D6B"/>
                </a:solidFill>
              </a:defRPr>
            </a:pPr>
            <a:r>
              <a:t>Production Technology Stack</a:t>
            </a:r>
          </a:p>
          <a:p>
            <a:pPr>
              <a:spcBef>
                <a:spcPts val="800"/>
              </a:spcBef>
              <a:defRPr b="1" sz="950">
                <a:solidFill>
                  <a:srgbClr val="0F2D6B"/>
                </a:solidFill>
              </a:defRPr>
            </a:pPr>
            <a:r>
              <a:t>• Frontend Ecosystem: </a:t>
            </a:r>
            <a:r>
              <a:rPr b="0" sz="850">
                <a:solidFill>
                  <a:srgbClr val="0F172A"/>
                </a:solidFill>
              </a:rPr>
              <a:t>Next.js 15 (App Router), React 19, TypeScript, Tailwind CSS, Zustand state store, Lucide-React, jsQR (60 FPS optical camera scanner).</a:t>
            </a:r>
          </a:p>
          <a:p>
            <a:pPr>
              <a:spcBef>
                <a:spcPts val="800"/>
              </a:spcBef>
              <a:defRPr b="1" sz="950">
                <a:solidFill>
                  <a:srgbClr val="0F2D6B"/>
                </a:solidFill>
              </a:defRPr>
            </a:pPr>
            <a:r>
              <a:t>• Backend &amp; Microservices: </a:t>
            </a:r>
            <a:r>
              <a:rPr b="0" sz="850">
                <a:solidFill>
                  <a:srgbClr val="0F172A"/>
                </a:solidFill>
              </a:rPr>
              <a:t>FastAPI (Python 3.12+), Uvicorn ASGI, Pydantic v2 data validation, SQLAlchemy ORM, EventBus Pub/Sub architecture.</a:t>
            </a:r>
          </a:p>
          <a:p>
            <a:pPr>
              <a:spcBef>
                <a:spcPts val="800"/>
              </a:spcBef>
              <a:defRPr b="1" sz="950">
                <a:solidFill>
                  <a:srgbClr val="0F2D6B"/>
                </a:solidFill>
              </a:defRPr>
            </a:pPr>
            <a:r>
              <a:t>• AI / Solvers &amp; Explainability: </a:t>
            </a:r>
            <a:r>
              <a:rPr b="0" sz="850">
                <a:solidFill>
                  <a:srgbClr val="0F172A"/>
                </a:solidFill>
              </a:rPr>
              <a:t>Google OR-Tools (CP-SAT discrete constraint solver), XGBoost Regression (R2&gt;=0.96), TreeSHAP (force plots), NetworkX (bipartite matching).</a:t>
            </a:r>
          </a:p>
          <a:p>
            <a:pPr>
              <a:spcBef>
                <a:spcPts val="800"/>
              </a:spcBef>
              <a:defRPr b="1" sz="950">
                <a:solidFill>
                  <a:srgbClr val="0F2D6B"/>
                </a:solidFill>
              </a:defRPr>
            </a:pPr>
            <a:r>
              <a:t>• Real-Time Protocols &amp; Security: </a:t>
            </a:r>
            <a:r>
              <a:rPr b="0" sz="850">
                <a:solidFill>
                  <a:srgbClr val="0F172A"/>
                </a:solidFill>
              </a:rPr>
              <a:t>FastAPI WebSockets (/api/v1/ws/updates), HTML5 BroadcastChannel (0ms cross-tab sync), WebRTC camera stream, HMAC SHA-256 token signature.</a:t>
            </a:r>
          </a:p>
          <a:p>
            <a:pPr>
              <a:spcBef>
                <a:spcPts val="800"/>
              </a:spcBef>
              <a:defRPr b="1" sz="950">
                <a:solidFill>
                  <a:srgbClr val="0F2D6B"/>
                </a:solidFill>
              </a:defRPr>
            </a:pPr>
            <a:r>
              <a:t>• Database &amp; Verification: </a:t>
            </a:r>
            <a:r>
              <a:rPr b="0" sz="850">
                <a:solidFill>
                  <a:srgbClr val="0F172A"/>
                </a:solidFill>
              </a:rPr>
              <a:t>PostgreSQL / SQLite, Alembic migrations, Pytest (78/78 test suite passing), Node.js Deep Lifecycle Suite (9/9 suites passing, 100% assertions).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D6B"/>
                </a:solidFill>
              </a:defRPr>
            </a:pPr>
            <a:r>
              <a:t>FEASIBILITY AND VIABILITY</a:t>
            </a:r>
          </a:p>
          <a:p>
            <a:pPr>
              <a:defRPr sz="1000" b="0">
                <a:solidFill>
                  <a:srgbClr val="475569"/>
                </a:solidFill>
              </a:defRPr>
            </a:pPr>
            <a:r>
              <a:t>Technical &amp; Operational Feasibility, Real Ground Challenges, and Mitigation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7315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2D6B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484632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2D6B"/>
                </a:solidFill>
              </a:defRPr>
            </a:pPr>
            <a:r>
              <a:t>1. Feasibility Analysis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Technical Feasibility: </a:t>
            </a:r>
            <a:r>
              <a:rPr b="0" sz="850">
                <a:solidFill>
                  <a:srgbClr val="0F172A"/>
                </a:solidFill>
              </a:rPr>
              <a:t>Deterministic Google CP-SAT solver runs in &lt;50ms on standard COTS servers; verified on complex 7-station corridor topology.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Operational Feasibility: </a:t>
            </a:r>
            <a:r>
              <a:rPr b="0" sz="850">
                <a:solidFill>
                  <a:srgbClr val="0F172A"/>
                </a:solidFill>
              </a:rPr>
              <a:t>Digitizes statutory Form T/351 without altering core Indian Railways General &amp; Subsidiary Rules (G&amp;SR); zero friction for staff.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Financial Feasibility: </a:t>
            </a:r>
            <a:r>
              <a:rPr b="0" sz="850">
                <a:solidFill>
                  <a:srgbClr val="0F172A"/>
                </a:solidFill>
              </a:rPr>
              <a:t>100% software deployment; runs on existing railway station desktop PCs and workers' mobile phones with zero new hardware capex.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89888"/>
            <a:ext cx="484632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2. Potential Ground Challenges &amp; Risks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Legacy Mechanical Stations: </a:t>
            </a:r>
            <a:r>
              <a:rPr b="0" sz="850">
                <a:solidFill>
                  <a:srgbClr val="0F172A"/>
                </a:solidFill>
              </a:rPr>
              <a:t>Older stations with mechanical lever frames lack digital electronic relay APIs for automatic signal status feedback.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Outdoor Sunlight Glare: </a:t>
            </a:r>
            <a:r>
              <a:rPr b="0" sz="850">
                <a:solidFill>
                  <a:srgbClr val="0F172A"/>
                </a:solidFill>
              </a:rPr>
              <a:t>Harsh sunlight reflections and budget smartphone cameras cause optical QR scanning latency during field inspections.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Rural Cellular Dropouts: </a:t>
            </a:r>
            <a:r>
              <a:rPr b="0" sz="850">
                <a:solidFill>
                  <a:srgbClr val="0F172A"/>
                </a:solidFill>
              </a:rPr>
              <a:t>Remote railway track sections in cuttings and forests frequently experience complete 4G/5G signal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41648"/>
            <a:ext cx="484632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3. Strategies to Overcome Challenges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Human-in-the-Loop Fallback: </a:t>
            </a:r>
            <a:r>
              <a:rPr b="0" sz="850">
                <a:solidFill>
                  <a:srgbClr val="0F172A"/>
                </a:solidFill>
              </a:rPr>
              <a:t>Station Masters confirm route clamping via station code verification and secure two-factor credentials (ID 123, PIN 123).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Compact Delimiter QR Format: </a:t>
            </a:r>
            <a:r>
              <a:rPr b="0" sz="850">
                <a:solidFill>
                  <a:srgbClr val="0F172A"/>
                </a:solidFill>
              </a:rPr>
              <a:t>Replaces bulky JSON with ~65-character Level 'M/H' error correction (15-30% recovery) for 100% reliable 60 FPS camera scanning under harsh outdoor sunlight glare.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Local-First Offline Resilience: </a:t>
            </a:r>
            <a:r>
              <a:rPr b="0" sz="850">
                <a:solidFill>
                  <a:srgbClr val="0F172A"/>
                </a:solidFill>
              </a:rPr>
              <a:t>Field terminals cache active permits and tokens in browser localStorage, maintaining work timers and auto-syncing on reconnect.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041648"/>
            <a:ext cx="484632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4. Scalability &amp; National Viability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Pan-India Zonal Scale: </a:t>
            </a:r>
            <a:r>
              <a:rPr b="0" sz="850">
                <a:solidFill>
                  <a:srgbClr val="0F172A"/>
                </a:solidFill>
              </a:rPr>
              <a:t>Tested and proven on SWR Bengaluru (SBC-MYS 138 km corridor); horizontally scalable across all 18 Indian Railways zones (68,000+ km).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Dedicated Freight Corridors (DFC): </a:t>
            </a:r>
            <a:r>
              <a:rPr b="0" sz="850">
                <a:solidFill>
                  <a:srgbClr val="0F172A"/>
                </a:solidFill>
              </a:rPr>
              <a:t>Plug-and-play adaptability for Eastern &amp; Western DFC automated heavy-haul maintenance windows.</a:t>
            </a:r>
          </a:p>
          <a:p>
            <a:pPr>
              <a:spcBef>
                <a:spcPts val="400"/>
              </a:spcBef>
              <a:defRPr b="1" sz="850">
                <a:solidFill>
                  <a:srgbClr val="0F2D6B"/>
                </a:solidFill>
              </a:defRPr>
            </a:pPr>
            <a:r>
              <a:t>• Metro &amp; High-Speed Rail: </a:t>
            </a:r>
            <a:r>
              <a:rPr b="0" sz="850">
                <a:solidFill>
                  <a:srgbClr val="0F172A"/>
                </a:solidFill>
              </a:rPr>
              <a:t>Extensible to RRTS, bullet train, and urban metro systems requiring discrete sub-minute block deconfliction.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D6B"/>
                </a:solidFill>
              </a:defRPr>
            </a:pPr>
            <a:r>
              <a:t>IMPACT AND BENEFITS</a:t>
            </a:r>
          </a:p>
          <a:p>
            <a:pPr>
              <a:defRPr sz="1000" b="0">
                <a:solidFill>
                  <a:srgbClr val="475569"/>
                </a:solidFill>
              </a:defRPr>
            </a:pPr>
            <a:r>
              <a:t>Quantified Operational Gains, Multi-Dimensional Benefits, and Stakeholder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7315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2D6B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30 - 90 min</a:t>
            </a:r>
          </a:p>
          <a:p>
            <a:pPr algn="ctr"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t>Downtime Saved / 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8016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800" b="1">
                <a:solidFill>
                  <a:srgbClr val="0F2D6B"/>
                </a:solidFill>
              </a:defRPr>
            </a:pPr>
            <a:r>
              <a:t>0.0%</a:t>
            </a:r>
          </a:p>
          <a:p>
            <a:pPr algn="ctr"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t>Punctuality Loss (VIP Trains)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800" b="1">
                <a:solidFill>
                  <a:srgbClr val="0284C7"/>
                </a:solidFill>
              </a:defRPr>
            </a:pPr>
            <a:r>
              <a:t>208.4 ms</a:t>
            </a:r>
          </a:p>
          <a:p>
            <a:pPr algn="ctr"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t>Emergency Re-Solve (&lt;250ms)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28016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SIL-4 Compliant</a:t>
            </a:r>
          </a:p>
          <a:p>
            <a:pPr algn="ctr">
              <a:spcBef>
                <a:spcPts val="200"/>
              </a:spcBef>
              <a:defRPr sz="850" b="1">
                <a:solidFill>
                  <a:srgbClr val="0F172A"/>
                </a:solidFill>
              </a:defRPr>
            </a:pPr>
            <a:r>
              <a:t>Fail-Safe Signal Clamping &amp; Zero Single-Line Block Violations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62179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0F2D6B"/>
                </a:solidFill>
              </a:defRPr>
            </a:pPr>
            <a:r>
              <a:t>Comprehensive Benefit Dimensions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Social &amp; Worker Safety: </a:t>
            </a:r>
            <a:r>
              <a:rPr b="0" sz="800">
                <a:solidFill>
                  <a:srgbClr val="0F172A"/>
                </a:solidFill>
              </a:rPr>
              <a:t>Directly protects ground track gangmen &amp; JE crews by eliminating verbal phone miscommunication; guarantees station signals are clamped at Danger before boots touch ballast.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Technological Innovation: </a:t>
            </a:r>
            <a:r>
              <a:rPr b="0" sz="800">
                <a:solidFill>
                  <a:srgbClr val="0F172A"/>
                </a:solidFill>
              </a:rPr>
              <a:t>Modernizes legacy siloed railway applications (TMS, SMMS, TDMS, COA) into an integrated, real-time multi-agent operating system with explainable AI (TreeSHAP).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Economic Value: </a:t>
            </a:r>
            <a:r>
              <a:rPr b="0" sz="800">
                <a:solidFill>
                  <a:srgbClr val="0F172A"/>
                </a:solidFill>
              </a:rPr>
              <a:t>Saves an estimated ₹15 to 25 Crores annually per railway division by eliminating freight rake detentions, reducing traction power shutoffs, and extending track rail asset life.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Environmental Sustainability: </a:t>
            </a:r>
            <a:r>
              <a:rPr b="0" sz="800">
                <a:solidFill>
                  <a:srgbClr val="0F172A"/>
                </a:solidFill>
              </a:rPr>
              <a:t>Eliminates unnecessary diesel locomotive idling during uncoordinated maintenance holds, reducing carbon emissions by an estimated 1,200 metric tonnes of CO2e per division annually.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468880"/>
            <a:ext cx="420624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0F2D6B"/>
                </a:solidFill>
              </a:defRPr>
            </a:pPr>
            <a:r>
              <a:t>Impact on Key Stakeholders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Section Controllers: </a:t>
            </a:r>
            <a:r>
              <a:rPr b="0" sz="800">
                <a:solidFill>
                  <a:srgbClr val="0F172A"/>
                </a:solidFill>
              </a:rPr>
              <a:t>Reduces verbal phone dispatching by 80%; provides a visual corridor Gantt radar with 1-click Pareto conflict resolution.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Field Junior Engineers: </a:t>
            </a:r>
            <a:r>
              <a:rPr b="0" sz="800">
                <a:solidFill>
                  <a:srgbClr val="0F172A"/>
                </a:solidFill>
              </a:rPr>
              <a:t>Replaces manual paper registers with 1-click mobile Form T/351 requisitions and verified cryptographic line protection.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Station Masters: </a:t>
            </a:r>
            <a:r>
              <a:rPr b="0" sz="800">
                <a:solidFill>
                  <a:srgbClr val="0F172A"/>
                </a:solidFill>
              </a:rPr>
              <a:t>Eliminates manual phone memo registers with 60 FPS QR token scanning and electronic interlocking route clamping.</a:t>
            </a:r>
          </a:p>
          <a:p>
            <a:pPr>
              <a:spcBef>
                <a:spcPts val="600"/>
              </a:spcBef>
              <a:defRPr b="1" sz="850">
                <a:solidFill>
                  <a:srgbClr val="0F2D6B"/>
                </a:solidFill>
              </a:defRPr>
            </a:pPr>
            <a:r>
              <a:t>• Passengers &amp; Freight Shippers: </a:t>
            </a:r>
            <a:r>
              <a:rPr b="0" sz="800">
                <a:solidFill>
                  <a:srgbClr val="0F172A"/>
                </a:solidFill>
              </a:rPr>
              <a:t>Zero delays to premier expresses (Vande Bharat, Shatabdi) and guaranteed predictable transit slots for freight trains.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728655" cy="36576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2D6B"/>
                </a:solidFill>
              </a:defRPr>
            </a:pPr>
            <a:r>
              <a:t>RESEARCH AND REFERENCES</a:t>
            </a:r>
          </a:p>
          <a:p>
            <a:pPr>
              <a:defRPr sz="1000" b="0">
                <a:solidFill>
                  <a:srgbClr val="475569"/>
                </a:solidFill>
              </a:defRPr>
            </a:pPr>
            <a:r>
              <a:t>Comparison with Existing Systems, Technical Citations &amp; Regulatory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7315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2D6B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72865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468880"/>
                <a:gridCol w="2590495"/>
              </a:tblGrid>
              <a:tr h="4419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Operational Capability / Feature</a:t>
                      </a:r>
                    </a:p>
                  </a:txBody>
                  <a:tcPr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RailBlock AI (Our Solution)</a:t>
                      </a:r>
                    </a:p>
                  </a:txBody>
                  <a:tcPr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Legacy Manual System</a:t>
                      </a:r>
                    </a:p>
                  </a:txBody>
                  <a:tcPr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Isolated Silos (TMS / COA)</a:t>
                      </a:r>
                    </a:p>
                  </a:txBody>
                  <a:tcPr>
                    <a:solidFill>
                      <a:srgbClr val="0F2D6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2D6B"/>
                          </a:solidFill>
                        </a:defRPr>
                      </a:pPr>
                      <a:r>
                        <a:t>Mathematical Deconfliction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Google OR-Tools CP-SAT Solver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Mental estimation / Verbal calls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Static rules / No dynamic solve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2D6B"/>
                          </a:solidFill>
                        </a:defRPr>
                      </a:pPr>
                      <a:r>
                        <a:t>Multi-Dept Fusion (P-Way+S&amp;T+TRD)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Automated Bipartite Matching (NetworkX)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Ad-hoc / Rarely coordinated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Separate isolated databases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2D6B"/>
                          </a:solidFill>
                        </a:defRPr>
                      </a:pPr>
                      <a:r>
                        <a:t>Ground Authorization &amp; Clamping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Cryptographic HMAC SHA-256 QR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Paper Form T/351 Memo handoff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Manual phone register log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2D6B"/>
                          </a:solidFill>
                        </a:defRPr>
                      </a:pPr>
                      <a:r>
                        <a:t>Dynamic Emergency Re-Solve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Sub-250ms SLA (208.4ms measured)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30 - 60 minutes manual reshuffle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Delayed timetable overrides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2D6B"/>
                          </a:solidFill>
                        </a:defRPr>
                      </a:pPr>
                      <a:r>
                        <a:t>AI Explainability &amp; Audit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TreeSHAP Local Feature Attribution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Unrecorded personal decisions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No explainability models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0F2D6B"/>
                </a:solidFill>
              </a:defRPr>
            </a:pPr>
            <a:r>
              <a:t>Regulatory &amp; Indian Railways Domain Standards</a:t>
            </a:r>
          </a:p>
          <a:p>
            <a:pPr>
              <a:spcBef>
                <a:spcPts val="400"/>
              </a:spcBef>
              <a:defRPr b="1" sz="800">
                <a:solidFill>
                  <a:srgbClr val="0F2D6B"/>
                </a:solidFill>
              </a:defRPr>
            </a:pPr>
            <a:r>
              <a:t>• IR G&amp;SR Rule Book: </a:t>
            </a:r>
            <a:r>
              <a:rPr b="0" sz="750">
                <a:solidFill>
                  <a:srgbClr val="0F172A"/>
                </a:solidFill>
              </a:rPr>
              <a:t>General &amp; Subsidiary Rules governing Line Disconnection and Reconnection (Form T/351 paperless digital replacement).</a:t>
            </a:r>
          </a:p>
          <a:p>
            <a:pPr>
              <a:spcBef>
                <a:spcPts val="400"/>
              </a:spcBef>
              <a:defRPr b="1" sz="800">
                <a:solidFill>
                  <a:srgbClr val="0F2D6B"/>
                </a:solidFill>
              </a:defRPr>
            </a:pPr>
            <a:r>
              <a:t>• RDSO Track Standards: </a:t>
            </a:r>
            <a:r>
              <a:rPr b="0" sz="750">
                <a:solidFill>
                  <a:srgbClr val="0F172A"/>
                </a:solidFill>
              </a:rPr>
              <a:t>Indian Railways Permanent Way Manual (IRPWM) Section 801 for mechanized machine tamping and ultrasonic crack testing (USFD).</a:t>
            </a:r>
          </a:p>
          <a:p>
            <a:pPr>
              <a:spcBef>
                <a:spcPts val="400"/>
              </a:spcBef>
              <a:defRPr b="1" sz="800">
                <a:solidFill>
                  <a:srgbClr val="0F2D6B"/>
                </a:solidFill>
              </a:defRPr>
            </a:pPr>
            <a:r>
              <a:t>• CENELEC EN 50129 / IEC 61508: </a:t>
            </a:r>
            <a:r>
              <a:rPr b="0" sz="750">
                <a:solidFill>
                  <a:srgbClr val="0F172A"/>
                </a:solidFill>
              </a:rPr>
              <a:t>Safety Integrity Level 4 (SIL-4) fail-safe principles for electronic signaling and route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6052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Academic &amp; Algorithmic Research Citations</a:t>
            </a:r>
          </a:p>
          <a:p>
            <a:pPr>
              <a:spcBef>
                <a:spcPts val="400"/>
              </a:spcBef>
              <a:defRPr b="1" sz="800">
                <a:solidFill>
                  <a:srgbClr val="0F2D6B"/>
                </a:solidFill>
              </a:defRPr>
            </a:pPr>
            <a:r>
              <a:t>• Google OR-Tools (Perron &amp; Didier): </a:t>
            </a:r>
            <a:r>
              <a:rPr b="0" sz="750">
                <a:solidFill>
                  <a:srgbClr val="0F172A"/>
                </a:solidFill>
              </a:rPr>
              <a:t>CP-SAT: Constraint Programming Satisfiability Solver for discrete time-interval scheduling.</a:t>
            </a:r>
          </a:p>
          <a:p>
            <a:pPr>
              <a:spcBef>
                <a:spcPts val="400"/>
              </a:spcBef>
              <a:defRPr b="1" sz="800">
                <a:solidFill>
                  <a:srgbClr val="0F2D6B"/>
                </a:solidFill>
              </a:defRPr>
            </a:pPr>
            <a:r>
              <a:t>• TreeSHAP (Lundberg &amp; Lee, Nature MI): </a:t>
            </a:r>
            <a:r>
              <a:rPr b="0" sz="750">
                <a:solidFill>
                  <a:srgbClr val="0F172A"/>
                </a:solidFill>
              </a:rPr>
              <a:t>A Unified Approach to Interpreting Model Predictions (TreeSHAP local feature attribution).</a:t>
            </a:r>
          </a:p>
          <a:p>
            <a:pPr>
              <a:spcBef>
                <a:spcPts val="400"/>
              </a:spcBef>
              <a:defRPr b="1" sz="800">
                <a:solidFill>
                  <a:srgbClr val="0F2D6B"/>
                </a:solidFill>
              </a:defRPr>
            </a:pPr>
            <a:r>
              <a:t>• Indian Railways Operational Telemetry: </a:t>
            </a:r>
            <a:r>
              <a:rPr b="0" sz="750">
                <a:solidFill>
                  <a:srgbClr val="0F172A"/>
                </a:solidFill>
              </a:rPr>
              <a:t>South Western Railway (SWR Bengaluru Division) SBC-MYS Corridor timetable &amp; track gradient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